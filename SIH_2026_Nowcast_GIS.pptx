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SMART INDIA HACKATHON 2026</a:t>
            </a:r>
          </a:p>
          <a:p>
            <a:pPr>
              <a:spcBef>
                <a:spcPts val="600"/>
              </a:spcBef>
              <a:defRPr sz="4600" b="1">
                <a:solidFill>
                  <a:srgbClr val="F8FAFC"/>
                </a:solidFill>
              </a:defRPr>
            </a:pPr>
            <a:r>
              <a:t>Nowcast-GIS</a:t>
            </a:r>
          </a:p>
          <a:p>
            <a:pPr>
              <a:spcBef>
                <a:spcPts val="1000"/>
              </a:spcBef>
              <a:defRPr sz="1700" b="1">
                <a:solidFill>
                  <a:srgbClr val="F59E0B"/>
                </a:solidFill>
              </a:defRPr>
            </a:pPr>
            <a:r>
              <a:t>High-Resolution Convective-Scale Weather Prediction &amp; Real-Time GIS Early Warning Engine</a:t>
            </a:r>
          </a:p>
          <a:p>
            <a:pPr>
              <a:spcBef>
                <a:spcPts val="1000"/>
              </a:spcBef>
              <a:defRPr sz="1200" i="1">
                <a:solidFill>
                  <a:srgbClr val="94A3B8"/>
                </a:solidFill>
              </a:defRPr>
            </a:pPr>
            <a:r>
              <a:t>Bridging the 0–6 Hour Weather Gap: From Satellite Thermal Detection to Ground-Level Evacuation.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</a:defRPr>
            </a:pPr>
            <a:r>
              <a:t>An end-to-end, AI-powered convective nowcasting platform that ingests INSAT-3D thermal IR and Doppler radar to detect storm updrafts 30–45 minutes before rain begins and projects severe storm advection up to 6 hours with real-time GIS countdown clocks.</a:t>
            </a:r>
          </a:p>
          <a:p>
            <a:br/>
            <a:pPr>
              <a:defRPr sz="1100">
                <a:solidFill>
                  <a:srgbClr val="38BDF8"/>
                </a:solidFill>
              </a:defRPr>
            </a:pPr>
            <a:r>
              <a:t>Team: [Your Team Name]  |  Problem Statement: Convective-Scale Severe Weather Nowcasting</a:t>
            </a:r>
          </a:p>
        </p:txBody>
      </p:sp>
      <p:pic>
        <p:nvPicPr>
          <p:cNvPr id="4" name="Picture 3" descr="nowcast_gis_dashboard_17906994955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05840"/>
            <a:ext cx="46634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SLIDE 2 — PROPOSED SOLUTION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The Nowcasting Problem &amp; Our Integrated GIS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3F5E"/>
                </a:solidFill>
              </a:defRPr>
            </a:pPr>
            <a:r>
              <a:t>WHAT IS THE PROBLEM?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Severe thunderstorms &amp; lightning claim 2,500+ Indian lives annually.</a:t>
            </a:r>
            <a:br/>
            <a:r>
              <a:t>• Traditional NWP models have 3–6 hour compute latency and miss rapid convective storm births.</a:t>
            </a:r>
            <a:br/>
            <a:r>
              <a:t>• Disaster authorities (NDRF/SDMA) receive zero sub-hour tactical lead time.</a:t>
            </a:r>
          </a:p>
          <a:p>
            <a:br/>
            <a:pPr>
              <a:spcBef>
                <a:spcPts val="800"/>
              </a:spcBef>
              <a:defRPr sz="1200" b="1">
                <a:solidFill>
                  <a:srgbClr val="38BDF8"/>
                </a:solidFill>
              </a:defRPr>
            </a:pPr>
            <a:r>
              <a:t>HOW IT WORKS (3 SIMPLE STEPS):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1. Ingest &amp; Detect: Monitors INSAT-3D cloud-top cooling rates (ΔT/Δt) to spot storm updrafts 30–45 mins before radar echoes form.</a:t>
            </a:r>
            <a:br/>
            <a:r>
              <a:t>2. Nowcast (0–6 Hours): Dual-engine advection (OpenCV Optical Flow + ConvLSTM) outputs 12 forecast frames at 30-min steps.</a:t>
            </a:r>
            <a:br/>
            <a:r>
              <a:t>3. Warn &amp; Act: Clusters severe echoes (≥50 dBZ) and lightning into active hazard alert zones with automated, ticking countdown clocks.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WHAT MAKES NOWCAST-GIS UNIQUE: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Pre-Radar Convective Initiation: Identifies storm updrafts 30–45 mins before ground rain via satellite thermal cooling.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Live Arrival Countdown Clocks: Zone cards calculate exact ticking countdowns (MM:SS) to storm arrival.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6-Hour Interactive Timeline: 13 time capsules (T+0 to T+360m) with animated Play/Pause playback.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Dual-Model Engine: Combines OpenCV Farneback Optical Flow with deep learning ConvLSTM.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Multi-Hazard Data Fusion: Unified GeoJSON payload merging radar dBZ polygons, CI points &amp; lightning.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Offline Demo / Replay Mode: Embedded historical replay toggle for venue demos without Wi-Fi.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WebSocket Real-Time Stream: Notifies clients within 3 seconds of new file ingestion.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SLIDE 3 — TECHNICAL APPROACH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System Architecture &amp; Production 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49377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91840"/>
              </a:tblGrid>
              <a:tr h="69233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TECHNOLOGIES EMPLOYED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</a:defRPr>
                      </a:pPr>
                      <a:r>
                        <a:t>GIS Dashboard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HTML5, Tailwind CSS, Vanilla JS, Leaflet.js 1.9, CartoDB Dark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</a:defRPr>
                      </a:pPr>
                      <a:r>
                        <a:t>Backend API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Python 3.14, FastAPI, Uvicorn (ASGI), Pydantic v2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</a:defRPr>
                      </a:pPr>
                      <a:r>
                        <a:t>Nowcast Models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OpenCV (Farneback Optical Flow), PyTorch (ConvLSTM)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</a:defRPr>
                      </a:pPr>
                      <a:r>
                        <a:t>Geospatial Stack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Rasterio 1.5.1, GDAL/Affine, NumPy 2.5, Pillow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</a:defRPr>
                      </a:pPr>
                      <a:r>
                        <a:t>CI Detection ML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Scikit-Learn, LightGBM, Joblib (ΔT/Δt + Texture Var)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</a:defRPr>
                      </a:pPr>
                      <a:r>
                        <a:t>Real-Time Push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Native WebSockets (/live) with async 3s file-watcher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137160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END-TO-END PIPELINE ARCHITECTURE:</a:t>
            </a:r>
          </a:p>
          <a:p>
            <a:pPr>
              <a:spcBef>
                <a:spcPts val="500"/>
              </a:spcBef>
              <a:defRPr sz="1000">
                <a:solidFill>
                  <a:srgbClr val="F8FAFC"/>
                </a:solidFill>
              </a:defRPr>
            </a:pPr>
            <a:r>
              <a:t>1. Ingestion Layer: Pulls INSAT-3D thermal IR, DWR Doppler radar (0.027° grid), and synthetic lightning proxy data into /engine/data/.</a:t>
            </a:r>
          </a:p>
          <a:p>
            <a:pPr>
              <a:spcBef>
                <a:spcPts val="500"/>
              </a:spcBef>
              <a:defRPr sz="1000">
                <a:solidFill>
                  <a:srgbClr val="F8FAFC"/>
                </a:solidFill>
              </a:defRPr>
            </a:pPr>
            <a:r>
              <a:t>2. Convective Initiation (CI): ML classifier extracts cooling rate and texture variance to output geo-referenced CI detection points.</a:t>
            </a:r>
          </a:p>
          <a:p>
            <a:pPr>
              <a:spcBef>
                <a:spcPts val="500"/>
              </a:spcBef>
              <a:defRPr sz="1000">
                <a:solidFill>
                  <a:srgbClr val="F8FAFC"/>
                </a:solidFill>
              </a:defRPr>
            </a:pPr>
            <a:r>
              <a:t>3. AI Nowcasting Engine: OpenCV Farneback dense optical flow advects radar reflectivity forward into 12 future frames (30m intervals, 6h horizon).</a:t>
            </a:r>
          </a:p>
          <a:p>
            <a:pPr>
              <a:spcBef>
                <a:spcPts val="500"/>
              </a:spcBef>
              <a:defRPr sz="1000">
                <a:solidFill>
                  <a:srgbClr val="F8FAFC"/>
                </a:solidFill>
              </a:defRPr>
            </a:pPr>
            <a:r>
              <a:t>4. Data Readers (readers.py): Extracts GeoJSON contour polygons (Moderate 30-40, Heavy 40-50, Severe ≥50 dBZ) and synthesizes warning zones (HZ-01..06).</a:t>
            </a:r>
          </a:p>
          <a:p>
            <a:pPr>
              <a:spcBef>
                <a:spcPts val="500"/>
              </a:spcBef>
              <a:defRPr sz="1000">
                <a:solidFill>
                  <a:srgbClr val="F8FAFC"/>
                </a:solidFill>
              </a:defRPr>
            </a:pPr>
            <a:r>
              <a:t>5. FastAPI Service (main.py): Exposes /status, /hazards, /forecast, /replay, and WS /live. Verified with 10/10 passing pytest test cases.</a:t>
            </a:r>
          </a:p>
          <a:p>
            <a:pPr>
              <a:spcBef>
                <a:spcPts val="500"/>
              </a:spcBef>
              <a:defRPr sz="1000">
                <a:solidFill>
                  <a:srgbClr val="F8FAFC"/>
                </a:solidFill>
              </a:defRPr>
            </a:pPr>
            <a:r>
              <a:t>6. Full-Screen Dashboard: Full-screen Leaflet dark map centered on India with active storm countdown clocks, bottom timeline scrubber, and offline replay mode.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SLIDE 4 — FEASIBILITY AND VIABILITY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Deployment Viability &amp; Engineering 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WHY THIS IS FEASIBLE RIGHT NOW: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Technical Feasibility:</a:t>
            </a:r>
            <a:br/>
            <a:r>
              <a:t>  Built on open standards (GeoTIFF, GeoJSON, EPSG:4326). Farneback optical flow executes in &lt; 2 seconds on CPU. 100% operational working prototype.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Operational Feasibility:</a:t>
            </a:r>
            <a:br/>
            <a:r>
              <a:t>  Direct drop-in for NDRF, SDMA, and airport weather offices. No specialized hardware required; runs on standard edge servers and loads on any browser.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Financial Feasibility:</a:t>
            </a:r>
            <a:br/>
            <a:r>
              <a:t>  Zero proprietary software license fees. 100% open-source stack. Negligible deployment cost vs. billions saved in avoided disaster damage.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371600"/>
          <a:ext cx="54864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2560320"/>
              </a:tblGrid>
              <a:tr h="96926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MITIGATION STRATEGY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Radar beam blockage in hills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43F5E"/>
                          </a:solidFill>
                        </a:defRPr>
                      </a:pPr>
                      <a:r>
                        <a:t>Coverage gaps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Fused satellite thermal IR (INSAT) provides continuous top-down coverage.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Non-linear storm dissipation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43F5E"/>
                          </a:solidFill>
                        </a:defRPr>
                      </a:pPr>
                      <a:r>
                        <a:t>Advection inaccuracy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ConvLSTM deep model predicts cell decay; CI detector tracks new births.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Unreliable field Wi-Fi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43F5E"/>
                          </a:solidFill>
                        </a:defRPr>
                      </a:pPr>
                      <a:r>
                        <a:t>Live demo lag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Embedded Replay Mode loops pre-baked 771-hazard snapshot completely offline.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Large GeoJSON payload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43F5E"/>
                          </a:solidFill>
                        </a:defRPr>
                      </a:pPr>
                      <a:r>
                        <a:t>Browser map stutter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</a:defRPr>
                      </a:pPr>
                      <a:r>
                        <a:t>Polygon simplification &amp; 4-decimal truncation cuts payload by &gt;50%.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SLIDE 5 — IMPACT AND BENEFITS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Quantifiable Impact &amp; Multi-Sector Beneficiaries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54864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828800"/>
              </a:tblGrid>
              <a:tr h="8077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PERFORMANCE 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TRADITIONAL NWP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NOWCAST-GIS PLATFORM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Forecast Update Frequency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Every 3 to 6 hours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Every 5 to 15 minutes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Spatial Resolution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12 km – 25 km grid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0.027° (~3 km) localized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Convective Initiation Lead Time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0 mins (post-rainfall)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30–45 mins advance detection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Hazard Arrival Precision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District-wide vague alert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Zone-specific countdown (MM:SS)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Client Payload Size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Gigabytes (binary grids)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Lightweight GeoJSON (&lt;500 KB)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92240" y="137160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TARGET BENEFICIARIES &amp; BROADER IMPACT: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Disaster Authorities (SDMA / NDRF):</a:t>
            </a:r>
            <a:br/>
            <a:r>
              <a:t>  Increases actionable lead time from 0 to 45 mins. Live countdowns enable targeted siren alerts and localized evacuations.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Aviation &amp; Airports:</a:t>
            </a:r>
            <a:br/>
            <a:r>
              <a:t>  Enables tactical terminal airspace rerouting around severe cells (≥40 dBZ) up to 2 hours ahead; prevents lightning ramp hazards.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Agriculture &amp; Rural Communities:</a:t>
            </a:r>
            <a:br/>
            <a:r>
              <a:t>  Provides farmers advance notice for localized squalls and hailstorms; drastically cuts lightning fatalities in open fields.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Smart Cities &amp; Municipalities:</a:t>
            </a:r>
            <a:br/>
            <a:r>
              <a:t>  Preemptively triggers storm pump stations 45 minutes before cloudbursts hit; diverts urban underpass traffic.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SLIDE 6 — RESEARCH AND REFERENCES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Scientific Literature, Technical Standards &amp; Live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ATMOSPHERIC SCIENCE &amp; DOMAIN REFERENCES:</a:t>
            </a:r>
          </a:p>
          <a:p>
            <a:pPr>
              <a:spcBef>
                <a:spcPts val="500"/>
              </a:spcBef>
              <a:defRPr sz="1000">
                <a:solidFill>
                  <a:srgbClr val="94A3B8"/>
                </a:solidFill>
              </a:defRPr>
            </a:pPr>
            <a:r>
              <a:t>• India Meteorological Department (IMD): Operational Doppler Weather Radar (DWR) Nowcasting Guidelines &amp; Reflectivity dBZ thresholds.</a:t>
            </a:r>
          </a:p>
          <a:p>
            <a:pPr>
              <a:spcBef>
                <a:spcPts val="500"/>
              </a:spcBef>
              <a:defRPr sz="1000">
                <a:solidFill>
                  <a:srgbClr val="94A3B8"/>
                </a:solidFill>
              </a:defRPr>
            </a:pPr>
            <a:r>
              <a:t>• ISRO / MOSDAC: INSAT-3D/3DR Meteorological Data Products &amp; Thermal IR Specifications.</a:t>
            </a:r>
          </a:p>
          <a:p>
            <a:pPr>
              <a:spcBef>
                <a:spcPts val="500"/>
              </a:spcBef>
              <a:defRPr sz="1000">
                <a:solidFill>
                  <a:srgbClr val="94A3B8"/>
                </a:solidFill>
              </a:defRPr>
            </a:pPr>
            <a:r>
              <a:t>• World Meteorological Organization (WMO): WMO Publication No. 1198 — Guidelines for Nowcasting Techniques.</a:t>
            </a:r>
          </a:p>
          <a:p>
            <a:pPr>
              <a:spcBef>
                <a:spcPts val="500"/>
              </a:spcBef>
              <a:defRPr sz="1000">
                <a:solidFill>
                  <a:srgbClr val="94A3B8"/>
                </a:solidFill>
              </a:defRPr>
            </a:pPr>
            <a:r>
              <a:t>• Farneback, G. (2003): 'Two-Frame Motion Estimation Based on Polynomial Expansion' (Foundational basis for optical flow advection).</a:t>
            </a:r>
          </a:p>
          <a:p>
            <a:pPr>
              <a:spcBef>
                <a:spcPts val="500"/>
              </a:spcBef>
              <a:defRPr sz="1000">
                <a:solidFill>
                  <a:srgbClr val="94A3B8"/>
                </a:solidFill>
              </a:defRPr>
            </a:pPr>
            <a:r>
              <a:t>• Shi et al. (2015 - NeurIPS): 'Convolutional LSTM Network: A Machine Learning Approach for Precipitation Nowcasting'.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212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PROJECT VERIFICATION &amp; LIVE PROTOTYPE: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Test Suite Status: 10/10 automated tests passing (pytest engine/api/test_api.py -v).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Hazard Coverage: 771 combined active hazards across India grid (200 CI points, 115 lightning strikes, 450 radar polygons, 6 alert zones).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GitHub Repository: Pull Request #5 open into main: Phase 5-6: backend API + GIS dashboard.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Live Local Dashboard: http://127.0.0.1:8000/dashboard/ (Full-screen Leaflet map, countdown timers, 6h timeline scrubber).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SIH 2026 Reference: Problem Statement: Convective-Scale Severe Weather Nowcasting Engine.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